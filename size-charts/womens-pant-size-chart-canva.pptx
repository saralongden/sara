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87655" y="287655"/>
            <a:ext cx="6984563" cy="10116651"/>
          </a:xfrm>
          <a:prstGeom prst="rect">
            <a:avLst/>
          </a:prstGeom>
          <a:noFill/>
          <a:ln w="9525">
            <a:solidFill>
              <a:srgbClr val="DCCD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22773" y="719882"/>
            <a:ext cx="2714327" cy="107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 i="0" spc="357">
                <a:solidFill>
                  <a:srgbClr val="9E7A38"/>
                </a:solidFill>
                <a:latin typeface="Montserrat"/>
              </a:rPr>
              <a:t>GOLF FASHION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32273" y="827782"/>
            <a:ext cx="3095327" cy="558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0" b="0" i="0" spc="88">
                <a:solidFill>
                  <a:srgbClr val="1F2A44"/>
                </a:solidFill>
                <a:latin typeface="Playfair Display"/>
              </a:rPr>
              <a:t>WOMEN</a:t>
            </a:r>
          </a:p>
        </p:txBody>
      </p:sp>
      <p:sp>
        <p:nvSpPr>
          <p:cNvPr id="5" name="Rectangle 4"/>
          <p:cNvSpPr/>
          <p:nvPr/>
        </p:nvSpPr>
        <p:spPr>
          <a:xfrm>
            <a:off x="2422773" y="1612999"/>
            <a:ext cx="972741" cy="7144"/>
          </a:xfrm>
          <a:prstGeom prst="rect">
            <a:avLst/>
          </a:prstGeom>
          <a:solidFill>
            <a:srgbClr val="9E7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64509" y="1612999"/>
            <a:ext cx="972592" cy="7144"/>
          </a:xfrm>
          <a:prstGeom prst="rect">
            <a:avLst/>
          </a:prstGeom>
          <a:solidFill>
            <a:srgbClr val="9E7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81239" y="1422499"/>
            <a:ext cx="597545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000" b="0" i="1">
                <a:solidFill>
                  <a:srgbClr val="9E7A38"/>
                </a:solidFill>
                <a:latin typeface="Playfair Display"/>
              </a:rPr>
              <a:t>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32273" y="1875383"/>
            <a:ext cx="3095327" cy="558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0" b="0" i="0" spc="88">
                <a:solidFill>
                  <a:srgbClr val="1F2A44"/>
                </a:solidFill>
                <a:latin typeface="Playfair Display"/>
              </a:rPr>
              <a:t>COURSE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2773" y="2506117"/>
            <a:ext cx="2714327" cy="107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50" b="0" i="0" spc="357">
                <a:solidFill>
                  <a:srgbClr val="9E7A38"/>
                </a:solidFill>
                <a:latin typeface="Montserrat"/>
              </a:rPr>
              <a:t>SINCE 2004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905" y="3081933"/>
            <a:ext cx="791914" cy="7144"/>
          </a:xfrm>
          <a:prstGeom prst="rect">
            <a:avLst/>
          </a:prstGeom>
          <a:solidFill>
            <a:srgbClr val="9E7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6850" y="3333899"/>
            <a:ext cx="4626025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00" b="0" i="0" spc="646">
                <a:solidFill>
                  <a:srgbClr val="1F2A44"/>
                </a:solidFill>
                <a:latin typeface="Montserrat"/>
              </a:rPr>
              <a:t>WOMEN’S PANT SIZING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0363" y="3744516"/>
            <a:ext cx="2698998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0" i="0" spc="340">
                <a:solidFill>
                  <a:srgbClr val="9E7A38"/>
                </a:solidFill>
                <a:latin typeface="Montserrat"/>
              </a:rPr>
              <a:t>SIZE CONVERSION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998" y="4309765"/>
            <a:ext cx="3496866" cy="17933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0" i="0" spc="285">
                <a:solidFill>
                  <a:srgbClr val="9E7A38"/>
                </a:solidFill>
                <a:latin typeface="Montserrat"/>
              </a:rPr>
              <a:t>INTERNATIONAL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7998" y="4539109"/>
            <a:ext cx="3496866" cy="7144"/>
          </a:xfrm>
          <a:prstGeom prst="rect">
            <a:avLst/>
          </a:prstGeom>
          <a:solidFill>
            <a:srgbClr val="9E7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8780" y="4309765"/>
            <a:ext cx="2623096" cy="17933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0" i="0" spc="285">
                <a:solidFill>
                  <a:srgbClr val="9E7A38"/>
                </a:solidFill>
                <a:latin typeface="Montserrat"/>
              </a:rPr>
              <a:t>BY BRAND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8780" y="4539109"/>
            <a:ext cx="2623096" cy="7144"/>
          </a:xfrm>
          <a:prstGeom prst="rect">
            <a:avLst/>
          </a:prstGeom>
          <a:solidFill>
            <a:srgbClr val="9E7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7998" y="4546253"/>
            <a:ext cx="3496866" cy="49797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88780" y="4546253"/>
            <a:ext cx="2623096" cy="49797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998" y="4546253"/>
            <a:ext cx="874216" cy="4979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0" i="0" spc="204">
                <a:solidFill>
                  <a:srgbClr val="E4D3B0"/>
                </a:solidFill>
                <a:latin typeface="Montserrat"/>
              </a:rPr>
              <a:t>AUST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2214" y="4546253"/>
            <a:ext cx="874216" cy="4979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0" i="0" spc="204">
                <a:solidFill>
                  <a:srgbClr val="E4D3B0"/>
                </a:solidFill>
                <a:latin typeface="Montserrat"/>
              </a:rPr>
              <a:t>UK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6430" y="4546253"/>
            <a:ext cx="874216" cy="4979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0" i="0" spc="204">
                <a:solidFill>
                  <a:srgbClr val="E4D3B0"/>
                </a:solidFill>
                <a:latin typeface="Montserrat"/>
              </a:rPr>
              <a:t>USA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70647" y="4546253"/>
            <a:ext cx="874216" cy="4979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0" i="0" spc="204">
                <a:solidFill>
                  <a:srgbClr val="E4D3B0"/>
                </a:solidFill>
                <a:latin typeface="Montserrat"/>
              </a:rPr>
              <a:t>EURO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88780" y="4546253"/>
            <a:ext cx="874216" cy="4979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0" i="0" spc="105">
                <a:solidFill>
                  <a:srgbClr val="F8F5F1"/>
                </a:solidFill>
                <a:latin typeface="Montserrat"/>
              </a:rPr>
              <a:t>RÖHNISCH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2996" y="4546253"/>
            <a:ext cx="874216" cy="4979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0" i="0" spc="105">
                <a:solidFill>
                  <a:srgbClr val="F8F5F1"/>
                </a:solidFill>
                <a:latin typeface="Montserrat"/>
              </a:rPr>
              <a:t>J.LINDEBERG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7213" y="4546253"/>
            <a:ext cx="874663" cy="4979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0" i="0" spc="105">
                <a:solidFill>
                  <a:srgbClr val="F8F5F1"/>
                </a:solidFill>
                <a:latin typeface="Montserrat"/>
              </a:rPr>
              <a:t>NIVO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998" y="5630019"/>
            <a:ext cx="3496866" cy="7144"/>
          </a:xfrm>
          <a:prstGeom prst="rect">
            <a:avLst/>
          </a:prstGeom>
          <a:solidFill>
            <a:srgbClr val="DCCD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88780" y="5630019"/>
            <a:ext cx="2623096" cy="7144"/>
          </a:xfrm>
          <a:prstGeom prst="rect">
            <a:avLst/>
          </a:prstGeom>
          <a:solidFill>
            <a:srgbClr val="DCCD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998" y="5044232"/>
            <a:ext cx="874216" cy="5929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F2A44"/>
                </a:solidFill>
                <a:latin typeface="Playfair Display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22214" y="5044232"/>
            <a:ext cx="874216" cy="5929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96430" y="5044232"/>
            <a:ext cx="874216" cy="5929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70647" y="5044232"/>
            <a:ext cx="874216" cy="5929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2996" y="5044232"/>
            <a:ext cx="874216" cy="5929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7213" y="5044232"/>
            <a:ext cx="874663" cy="5929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7998" y="5637163"/>
            <a:ext cx="3496866" cy="597694"/>
          </a:xfrm>
          <a:prstGeom prst="rect">
            <a:avLst/>
          </a:prstGeom>
          <a:solidFill>
            <a:srgbClr val="F1E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7998" y="6227713"/>
            <a:ext cx="3496866" cy="7144"/>
          </a:xfrm>
          <a:prstGeom prst="rect">
            <a:avLst/>
          </a:prstGeom>
          <a:solidFill>
            <a:srgbClr val="DCCD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88780" y="5637163"/>
            <a:ext cx="2623096" cy="597694"/>
          </a:xfrm>
          <a:prstGeom prst="rect">
            <a:avLst/>
          </a:prstGeom>
          <a:solidFill>
            <a:srgbClr val="F1E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88780" y="6227713"/>
            <a:ext cx="2623096" cy="7144"/>
          </a:xfrm>
          <a:prstGeom prst="rect">
            <a:avLst/>
          </a:prstGeom>
          <a:solidFill>
            <a:srgbClr val="DCCD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998" y="5637163"/>
            <a:ext cx="874216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F2A44"/>
                </a:solidFill>
                <a:latin typeface="Playfair Display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2214" y="5637163"/>
            <a:ext cx="874216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96430" y="5637163"/>
            <a:ext cx="874216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70647" y="5637163"/>
            <a:ext cx="874216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32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88780" y="5637163"/>
            <a:ext cx="874216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34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2996" y="5637163"/>
            <a:ext cx="874216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27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7213" y="5637163"/>
            <a:ext cx="874663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7998" y="6825407"/>
            <a:ext cx="3496866" cy="7144"/>
          </a:xfrm>
          <a:prstGeom prst="rect">
            <a:avLst/>
          </a:prstGeom>
          <a:solidFill>
            <a:srgbClr val="DCCD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88780" y="6825407"/>
            <a:ext cx="2623096" cy="7144"/>
          </a:xfrm>
          <a:prstGeom prst="rect">
            <a:avLst/>
          </a:prstGeom>
          <a:solidFill>
            <a:srgbClr val="DCCD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7998" y="6234857"/>
            <a:ext cx="874216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F2A44"/>
                </a:solidFill>
                <a:latin typeface="Playfair Display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22214" y="6234857"/>
            <a:ext cx="874216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96430" y="6234857"/>
            <a:ext cx="874216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70647" y="6234857"/>
            <a:ext cx="874216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34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88780" y="6234857"/>
            <a:ext cx="874216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36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62996" y="6234857"/>
            <a:ext cx="874216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28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7213" y="6234857"/>
            <a:ext cx="874663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7998" y="6832550"/>
            <a:ext cx="3496866" cy="597694"/>
          </a:xfrm>
          <a:prstGeom prst="rect">
            <a:avLst/>
          </a:prstGeom>
          <a:solidFill>
            <a:srgbClr val="F1E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7998" y="7423100"/>
            <a:ext cx="3496866" cy="7144"/>
          </a:xfrm>
          <a:prstGeom prst="rect">
            <a:avLst/>
          </a:prstGeom>
          <a:solidFill>
            <a:srgbClr val="DCCD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88780" y="6832550"/>
            <a:ext cx="2623096" cy="597694"/>
          </a:xfrm>
          <a:prstGeom prst="rect">
            <a:avLst/>
          </a:prstGeom>
          <a:solidFill>
            <a:srgbClr val="F1E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88780" y="7423100"/>
            <a:ext cx="2623096" cy="7144"/>
          </a:xfrm>
          <a:prstGeom prst="rect">
            <a:avLst/>
          </a:prstGeom>
          <a:solidFill>
            <a:srgbClr val="DCCD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7998" y="6832550"/>
            <a:ext cx="874216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F2A44"/>
                </a:solidFill>
                <a:latin typeface="Playfair Display"/>
              </a:rPr>
              <a:t>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2214" y="6832550"/>
            <a:ext cx="874216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96430" y="6832550"/>
            <a:ext cx="874216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70647" y="6832550"/>
            <a:ext cx="874216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36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88780" y="6832550"/>
            <a:ext cx="874216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38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62996" y="6832550"/>
            <a:ext cx="874216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29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37213" y="6832550"/>
            <a:ext cx="874663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7998" y="8020794"/>
            <a:ext cx="3496866" cy="7144"/>
          </a:xfrm>
          <a:prstGeom prst="rect">
            <a:avLst/>
          </a:prstGeom>
          <a:solidFill>
            <a:srgbClr val="DCCD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288780" y="8020794"/>
            <a:ext cx="2623096" cy="7144"/>
          </a:xfrm>
          <a:prstGeom prst="rect">
            <a:avLst/>
          </a:prstGeom>
          <a:solidFill>
            <a:srgbClr val="DCCD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7998" y="7430244"/>
            <a:ext cx="874216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F2A44"/>
                </a:solidFill>
                <a:latin typeface="Playfair Display"/>
              </a:rPr>
              <a:t>12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22214" y="7430244"/>
            <a:ext cx="874216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12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96430" y="7430244"/>
            <a:ext cx="874216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70647" y="7430244"/>
            <a:ext cx="874216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38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88780" y="7430244"/>
            <a:ext cx="874216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40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62996" y="7430244"/>
            <a:ext cx="874216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30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37213" y="7430244"/>
            <a:ext cx="874663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7998" y="8027938"/>
            <a:ext cx="3496866" cy="597694"/>
          </a:xfrm>
          <a:prstGeom prst="rect">
            <a:avLst/>
          </a:prstGeom>
          <a:solidFill>
            <a:srgbClr val="F1E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7998" y="8618488"/>
            <a:ext cx="3496866" cy="7144"/>
          </a:xfrm>
          <a:prstGeom prst="rect">
            <a:avLst/>
          </a:prstGeom>
          <a:solidFill>
            <a:srgbClr val="DCCD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288780" y="8027938"/>
            <a:ext cx="2623096" cy="597694"/>
          </a:xfrm>
          <a:prstGeom prst="rect">
            <a:avLst/>
          </a:prstGeom>
          <a:solidFill>
            <a:srgbClr val="F1E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288780" y="8618488"/>
            <a:ext cx="2623096" cy="7144"/>
          </a:xfrm>
          <a:prstGeom prst="rect">
            <a:avLst/>
          </a:prstGeom>
          <a:solidFill>
            <a:srgbClr val="DCCD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7998" y="8027938"/>
            <a:ext cx="874216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F2A44"/>
                </a:solidFill>
                <a:latin typeface="Playfair Display"/>
              </a:rPr>
              <a:t>14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522214" y="8027938"/>
            <a:ext cx="874216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14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396430" y="8027938"/>
            <a:ext cx="874216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270647" y="8027938"/>
            <a:ext cx="874216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40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288780" y="8027938"/>
            <a:ext cx="874216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42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62996" y="8027938"/>
            <a:ext cx="874216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31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037213" y="8027938"/>
            <a:ext cx="874663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L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7998" y="9216182"/>
            <a:ext cx="3496866" cy="7144"/>
          </a:xfrm>
          <a:prstGeom prst="rect">
            <a:avLst/>
          </a:prstGeom>
          <a:solidFill>
            <a:srgbClr val="DCCD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288780" y="9216182"/>
            <a:ext cx="2623096" cy="7144"/>
          </a:xfrm>
          <a:prstGeom prst="rect">
            <a:avLst/>
          </a:prstGeom>
          <a:solidFill>
            <a:srgbClr val="DCCD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7998" y="8625632"/>
            <a:ext cx="874216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F2A44"/>
                </a:solidFill>
                <a:latin typeface="Playfair Display"/>
              </a:rPr>
              <a:t>16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522214" y="8625632"/>
            <a:ext cx="874216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16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396430" y="8625632"/>
            <a:ext cx="874216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14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270647" y="8625632"/>
            <a:ext cx="874216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42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288780" y="8625632"/>
            <a:ext cx="874216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44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162996" y="8625632"/>
            <a:ext cx="874216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32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037213" y="8625632"/>
            <a:ext cx="874663" cy="597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A44"/>
                </a:solidFill>
                <a:latin typeface="Playfair Display"/>
              </a:rPr>
              <a:t>XL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288780" y="5044232"/>
            <a:ext cx="7144" cy="4179094"/>
          </a:xfrm>
          <a:prstGeom prst="rect">
            <a:avLst/>
          </a:prstGeom>
          <a:solidFill>
            <a:srgbClr val="DCCD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154882" y="9516070"/>
            <a:ext cx="3249960" cy="32504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 spc="48">
                <a:solidFill>
                  <a:srgbClr val="1F2A44"/>
                </a:solidFill>
                <a:latin typeface="Montserrat"/>
              </a:rPr>
              <a:t>Sizes are a guide only — fit varies by style.</a:t>
            </a:r>
          </a:p>
          <a:p>
            <a:pPr algn="ctr"/>
            <a:r>
              <a:rPr sz="800" b="0" i="0" spc="48">
                <a:solidFill>
                  <a:srgbClr val="1F2A44"/>
                </a:solidFill>
                <a:latin typeface="Montserrat"/>
              </a:rPr>
              <a:t>Our team is happy to help you find your perfect fit.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563838" y="10057061"/>
            <a:ext cx="431899" cy="7144"/>
          </a:xfrm>
          <a:prstGeom prst="rect">
            <a:avLst/>
          </a:prstGeom>
          <a:solidFill>
            <a:srgbClr val="9E7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092672" y="10174486"/>
            <a:ext cx="337438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0" i="0" spc="300">
                <a:solidFill>
                  <a:srgbClr val="9E7A38"/>
                </a:solidFill>
                <a:latin typeface="Montserrat"/>
              </a:rPr>
              <a:t>WOMEN ON COURSE · GOLF FASHION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