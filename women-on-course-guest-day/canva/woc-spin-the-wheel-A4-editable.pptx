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59040" cy="106923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040" cy="10692384"/>
          </a:xfrm>
          <a:prstGeom prst="rect">
            <a:avLst/>
          </a:prstGeom>
          <a:solidFill>
            <a:srgbClr val="F9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3360" y="213360"/>
            <a:ext cx="7132320" cy="10265664"/>
          </a:xfrm>
          <a:prstGeom prst="rect">
            <a:avLst/>
          </a:prstGeom>
          <a:noFill/>
          <a:ln w="12700">
            <a:solidFill>
              <a:srgbClr val="9E7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800" y="304800"/>
            <a:ext cx="6949440" cy="10082784"/>
          </a:xfrm>
          <a:prstGeom prst="rect">
            <a:avLst/>
          </a:prstGeom>
          <a:noFill/>
          <a:ln w="6350">
            <a:solidFill>
              <a:srgbClr val="9E7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94560" y="533400"/>
            <a:ext cx="182880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0" spc="216">
                <a:solidFill>
                  <a:srgbClr val="9E7A38"/>
                </a:solidFill>
                <a:latin typeface="Montserrat"/>
              </a:rPr>
              <a:t>GOLF FASHION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720" y="609600"/>
            <a:ext cx="3657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792" b="1">
                <a:solidFill>
                  <a:srgbClr val="1F2A44"/>
                </a:solidFill>
                <a:latin typeface="Playfair Display"/>
              </a:rPr>
              <a:t>WOMEN</a:t>
            </a:r>
          </a:p>
        </p:txBody>
      </p:sp>
      <p:sp>
        <p:nvSpPr>
          <p:cNvPr id="7" name="Rectangle 6"/>
          <p:cNvSpPr/>
          <p:nvPr/>
        </p:nvSpPr>
        <p:spPr>
          <a:xfrm>
            <a:off x="2947416" y="1222248"/>
            <a:ext cx="576072" cy="12192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035552" y="1222248"/>
            <a:ext cx="576072" cy="12192"/>
          </a:xfrm>
          <a:prstGeom prst="rect">
            <a:avLst/>
          </a:prstGeom>
          <a:solidFill>
            <a:srgbClr val="9E7A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22320" y="10058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24" b="0">
                <a:solidFill>
                  <a:srgbClr val="9E7A38"/>
                </a:solidFill>
                <a:latin typeface="Pinyon Script"/>
              </a:rPr>
              <a:t>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640" y="1280160"/>
            <a:ext cx="36576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792" b="1">
                <a:solidFill>
                  <a:srgbClr val="1F2A44"/>
                </a:solidFill>
                <a:latin typeface="Playfair Display"/>
              </a:rPr>
              <a:t>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13560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0" spc="216">
                <a:solidFill>
                  <a:srgbClr val="9E7A38"/>
                </a:solidFill>
                <a:latin typeface="Montserrat"/>
              </a:rPr>
              <a:t>SINCE 2004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4800" y="2103120"/>
            <a:ext cx="6949440" cy="9753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800" y="2194560"/>
            <a:ext cx="694944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2" b="1" spc="384">
                <a:solidFill>
                  <a:srgbClr val="D9B66A"/>
                </a:solidFill>
                <a:latin typeface="Montserrat"/>
              </a:rPr>
              <a:t>MEMBER GUEST DAY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800" y="2362200"/>
            <a:ext cx="6949440" cy="518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F9F6F1"/>
                </a:solidFill>
                <a:latin typeface="Playfair Display"/>
              </a:rPr>
              <a:t>SPIN THE WHEEL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800" y="2849880"/>
            <a:ext cx="694944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5" b="0">
                <a:solidFill>
                  <a:srgbClr val="F9F6F1"/>
                </a:solidFill>
                <a:latin typeface="Montserrat"/>
              </a:rPr>
              <a:t>Tuesday 20 October 2026 and Wednesday 21 October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664464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23" b="1">
                <a:solidFill>
                  <a:srgbClr val="1F2A44"/>
                </a:solidFill>
                <a:latin typeface="Playfair Display"/>
              </a:rPr>
              <a:t>Follow us, Scan the QR code 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489960"/>
            <a:ext cx="6644640" cy="350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8" b="1">
                <a:solidFill>
                  <a:srgbClr val="9E7A38"/>
                </a:solidFill>
                <a:latin typeface="Playfair Display"/>
              </a:rPr>
              <a:t>WIN up to 40% off all Women's apparel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4800" y="3870960"/>
            <a:ext cx="6949440" cy="213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39" b="1" spc="480">
                <a:solidFill>
                  <a:srgbClr val="9E7A38"/>
                </a:solidFill>
                <a:latin typeface="Montserrat"/>
              </a:rPr>
              <a:t>SCAN TO WIN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14272" y="4218432"/>
            <a:ext cx="4730496" cy="4730496"/>
          </a:xfrm>
          <a:prstGeom prst="rect">
            <a:avLst/>
          </a:prstGeom>
          <a:noFill/>
          <a:ln w="19050">
            <a:solidFill>
              <a:srgbClr val="9E7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pin-qr-1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4328160"/>
            <a:ext cx="4511040" cy="451104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1526032" y="9186672"/>
            <a:ext cx="280416" cy="280416"/>
          </a:xfrm>
          <a:prstGeom prst="ellipse">
            <a:avLst/>
          </a:prstGeom>
          <a:noFill/>
          <a:ln w="12700">
            <a:solidFill>
              <a:srgbClr val="9E7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26032" y="9186672"/>
            <a:ext cx="280416" cy="280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2" b="1">
                <a:solidFill>
                  <a:srgbClr val="9E7A38"/>
                </a:solidFill>
                <a:latin typeface="Playfair Display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9540240"/>
            <a:ext cx="21132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39" b="1">
                <a:solidFill>
                  <a:srgbClr val="1F2A44"/>
                </a:solidFill>
                <a:latin typeface="Playfair Display"/>
              </a:rPr>
              <a:t>Follow 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0" y="9784080"/>
            <a:ext cx="2113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1" b="0">
                <a:solidFill>
                  <a:srgbClr val="1F2A44"/>
                </a:solidFill>
                <a:latin typeface="Montserrat"/>
              </a:rPr>
              <a:t>@womenoncoursegolf</a:t>
            </a:r>
          </a:p>
        </p:txBody>
      </p:sp>
      <p:sp>
        <p:nvSpPr>
          <p:cNvPr id="25" name="Oval 24"/>
          <p:cNvSpPr/>
          <p:nvPr/>
        </p:nvSpPr>
        <p:spPr>
          <a:xfrm>
            <a:off x="3639312" y="9186672"/>
            <a:ext cx="280416" cy="280416"/>
          </a:xfrm>
          <a:prstGeom prst="ellipse">
            <a:avLst/>
          </a:prstGeom>
          <a:noFill/>
          <a:ln w="12700">
            <a:solidFill>
              <a:srgbClr val="9E7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39312" y="9186672"/>
            <a:ext cx="280416" cy="280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2" b="1">
                <a:solidFill>
                  <a:srgbClr val="9E7A38"/>
                </a:solidFill>
                <a:latin typeface="Playfair Display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22880" y="9540240"/>
            <a:ext cx="21132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39" b="1">
                <a:solidFill>
                  <a:srgbClr val="1F2A44"/>
                </a:solidFill>
                <a:latin typeface="Playfair Display"/>
              </a:rPr>
              <a:t>Scan the QR code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2880" y="9784080"/>
            <a:ext cx="2113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1" b="0">
                <a:solidFill>
                  <a:srgbClr val="1F2A44"/>
                </a:solidFill>
                <a:latin typeface="Montserrat"/>
              </a:rPr>
              <a:t>and spin the wheel</a:t>
            </a:r>
          </a:p>
        </p:txBody>
      </p:sp>
      <p:sp>
        <p:nvSpPr>
          <p:cNvPr id="29" name="Oval 28"/>
          <p:cNvSpPr/>
          <p:nvPr/>
        </p:nvSpPr>
        <p:spPr>
          <a:xfrm>
            <a:off x="5752592" y="9186672"/>
            <a:ext cx="280416" cy="280416"/>
          </a:xfrm>
          <a:prstGeom prst="ellipse">
            <a:avLst/>
          </a:prstGeom>
          <a:noFill/>
          <a:ln w="12700">
            <a:solidFill>
              <a:srgbClr val="9E7A3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52592" y="9186672"/>
            <a:ext cx="280416" cy="2804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92" b="1">
                <a:solidFill>
                  <a:srgbClr val="9E7A38"/>
                </a:solidFill>
                <a:latin typeface="Playfair Display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36160" y="9540240"/>
            <a:ext cx="2113280" cy="243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39" b="1">
                <a:solidFill>
                  <a:srgbClr val="1F2A44"/>
                </a:solidFill>
                <a:latin typeface="Playfair Display"/>
              </a:rPr>
              <a:t>Show your discount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36160" y="9784080"/>
            <a:ext cx="211328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11" b="0">
                <a:solidFill>
                  <a:srgbClr val="1F2A44"/>
                </a:solidFill>
                <a:latin typeface="Montserrat"/>
              </a:rPr>
              <a:t>at the pro shop till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10165080"/>
            <a:ext cx="66446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19" b="0">
                <a:solidFill>
                  <a:srgbClr val="1F2A44"/>
                </a:solidFill>
                <a:latin typeface="Montserrat"/>
              </a:rPr>
              <a:t>One spin per person. Discount on Women's apparel in the pro shop, for a single purchase on 20 or 21 October 2026, while stocks last.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